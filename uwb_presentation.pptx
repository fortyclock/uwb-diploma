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2" d="100"/>
          <a:sy n="82" d="100"/>
        </p:scale>
        <p:origin x="989" y="5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 /><Relationship Id="rId28" Type="http://schemas.openxmlformats.org/officeDocument/2006/relationships/tableStyles" Target="tableStyles.xml" /><Relationship Id="rId2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87758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19863317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9A99640-FDFF-554B-8155-2A4ABB0BB1C0}" type="datetimeFigureOut">
              <a:rPr lang="ru-RU"/>
              <a:t>19.07.2022</a:t>
            </a:fld>
            <a:endParaRPr lang="ru-RU"/>
          </a:p>
        </p:txBody>
      </p:sp>
      <p:sp>
        <p:nvSpPr>
          <p:cNvPr id="194406217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506458841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5749370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1800281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14B55478-82A6-BE44-8EFA-5CC00A4527A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8766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6876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8914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547059-E58F-E3CE-282F-31F14388DF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615450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9717590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9176271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14B55478-82A6-BE44-8EFA-5CC00A4527A4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8270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372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91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23F01F-5049-878F-2C2C-FB960A65C4D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68534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5319930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01431591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7BFFB830-E24E-6E0F-AD2D-E2993CA1CD5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5504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04661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9401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7E91E6-8AD3-443A-DB8C-C2E9CE01310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12182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6660712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20476129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14B55478-82A6-BE44-8EFA-5CC00A4527A4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32427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410989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29078890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D30E2F87-F9F6-1CF9-4ABE-900D22D38C24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289681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8481832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1444156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55D89C94-0328-7A59-8D94-918F50B70034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4301834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533957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2116729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DE349187-447D-C5AD-987D-7CD20B85EBE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87129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3304560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60627846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619E96B-5963-A5FA-E51C-FA97D5A944E6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18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750837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303341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D0D662D-BDB4-505B-DDA8-0286245D171E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884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81185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90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252E90-968B-EFA5-DC66-E3A27C7561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55609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761977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80276366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14B55478-82A6-BE44-8EFA-5CC00A4527A4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59627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1535222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87397136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85E5FB9-FCBE-238B-7E31-D397D83F8DF7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26180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6093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6405484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BF9A1534-EA45-56E9-80D0-9ABB02FA517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8236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0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34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7D1DDA-D67A-8518-2618-4782133DF3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01210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948309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8518277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905522D5-3BD3-B6B7-9E7B-C010BC24D017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54931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858724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67255011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2EA8FE3F-1CE5-3799-18B0-87FD8C84C8C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606770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02684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08692736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5870FDD8-0A7F-DA5A-D292-0CE2F6CACEA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0266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4916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5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8D6729-1B7D-CD6C-0950-06096212FC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590748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633714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318851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795D0C0-FB1B-D65E-64E6-61935A78D38E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920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5435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8169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7B50B-3079-41EE-2CE7-740184FDEE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media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765328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6899817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202661340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31386638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8695217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2335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51006792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3939754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25145983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9130961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283136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8153521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7618931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75301768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46891737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95448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3910844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1581719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7440607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85896009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274988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54682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87480985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654328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1148824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3093835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88292714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688384820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35144476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46309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113694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155100621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3946195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350455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829381097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1109361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0266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41174727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413252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185877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07435738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2592714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245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15396512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2093887852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704563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783656972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14557245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3013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4631055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315477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81018624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1618253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840729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08652799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4315767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17762402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1816295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6401453" name="Рисунок 2"/>
          <p:cNvPicPr>
            <a:picLocks noChangeAspect="1"/>
          </p:cNvPicPr>
          <p:nvPr userDrawn="1"/>
        </p:nvPicPr>
        <p:blipFill rotWithShape="1">
          <a:blip r:embed="rId2"/>
          <a:srcRect l="0" t="0" r="1659" b="1617"/>
          <a:stretch/>
        </p:blipFill>
        <p:spPr bwMode="auto">
          <a:xfrm>
            <a:off x="-1" y="-1"/>
            <a:ext cx="12192001" cy="6858001"/>
          </a:xfrm>
          <a:prstGeom prst="rect">
            <a:avLst/>
          </a:prstGeom>
        </p:spPr>
      </p:pic>
      <p:sp>
        <p:nvSpPr>
          <p:cNvPr id="101910196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709454" y="603040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200">
                <a:solidFill>
                  <a:schemeClr val="bg1"/>
                </a:solidFill>
                <a:latin typeface="Verdana"/>
                <a:ea typeface="Verdana"/>
              </a:defRPr>
            </a:lvl1pPr>
          </a:lstStyle>
          <a:p>
            <a:pPr>
              <a:defRPr/>
            </a:pPr>
            <a:fld id="{273C401B-1B14-4810-BA37-2D3B4ECEFE53}" type="datetime1">
              <a:rPr lang="ru-RU"/>
              <a:t>19.07.2022</a:t>
            </a:fld>
            <a:endParaRPr lang="ru-RU"/>
          </a:p>
        </p:txBody>
      </p:sp>
      <p:sp>
        <p:nvSpPr>
          <p:cNvPr id="100518617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586481"/>
            <a:ext cx="10515600" cy="177196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6000">
                <a:solidFill>
                  <a:schemeClr val="bg1"/>
                </a:solidFill>
                <a:latin typeface="Verdana"/>
                <a:ea typeface="Verdana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407099289" name="Текст 11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838200" y="6017895"/>
            <a:ext cx="4140200" cy="365125"/>
          </a:xfrm>
          <a:prstGeom prst="rect">
            <a:avLst/>
          </a:prstGeom>
        </p:spPr>
        <p:txBody>
          <a:bodyPr/>
          <a:lstStyle>
            <a:lvl1pPr marL="0" indent="0">
              <a:buFont typeface="Wingdings"/>
              <a:buNone/>
              <a:defRPr sz="1200">
                <a:solidFill>
                  <a:schemeClr val="bg1"/>
                </a:solidFill>
                <a:latin typeface="Verdana"/>
                <a:ea typeface="Verdana"/>
              </a:defRPr>
            </a:lvl1pPr>
          </a:lstStyle>
          <a:p>
            <a:pPr marL="514350" marR="0" lvl="0" indent="-51435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lang="ru-RU"/>
              <a:t>вспомогательный текст</a:t>
            </a:r>
            <a:endParaRPr/>
          </a:p>
          <a:p>
            <a:pPr marL="228600" marR="0" lvl="0" indent="-22860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ru-RU"/>
          </a:p>
        </p:txBody>
      </p:sp>
      <p:pic>
        <p:nvPicPr>
          <p:cNvPr id="457895778" name="Рисунок 5"/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911225" y="626121"/>
            <a:ext cx="2646405" cy="724207"/>
          </a:xfrm>
          <a:prstGeom prst="rect">
            <a:avLst/>
          </a:prstGeom>
        </p:spPr>
      </p:pic>
    </p:spTree>
  </p:cSld>
  <p:clrMapOvr>
    <a:masterClrMapping/>
  </p:clrMapOvr>
  <p:hf dt="1" ftr="0" hdr="0" sldNum="0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44379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48391279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4626523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763AA36-DFB3-4BD3-B693-E730B8B63A63}" type="datetimeFigureOut">
              <a:rPr lang="ru-RU"/>
              <a:t>19.07.2022</a:t>
            </a:fld>
            <a:endParaRPr lang="ru-RU"/>
          </a:p>
        </p:txBody>
      </p:sp>
      <p:sp>
        <p:nvSpPr>
          <p:cNvPr id="2243005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4213596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F12586B-6C0A-4699-A295-133075F8516C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media2.sv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1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media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180673" name="Заголовок 4"/>
          <p:cNvSpPr>
            <a:spLocks noGrp="1"/>
          </p:cNvSpPr>
          <p:nvPr>
            <p:ph type="title"/>
          </p:nvPr>
        </p:nvSpPr>
        <p:spPr bwMode="auto">
          <a:xfrm flipH="0" flipV="0">
            <a:off x="368785" y="2006606"/>
            <a:ext cx="11729356" cy="22388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spcAft>
                <a:spcPts val="600"/>
              </a:spcAft>
              <a:defRPr/>
            </a:pPr>
            <a:r>
              <a:rPr lang="ru-RU" sz="5300" b="1"/>
              <a:t>Применение локальных систем позиционирования на базе </a:t>
            </a:r>
            <a:r>
              <a:rPr lang="en-US" sz="5300" b="1"/>
              <a:t>UWB </a:t>
            </a:r>
            <a:r>
              <a:rPr lang="ru-RU" sz="5300" b="1"/>
              <a:t>для организации полёта коллектива дронов</a:t>
            </a:r>
            <a:endParaRPr lang="ru-RU"/>
          </a:p>
        </p:txBody>
      </p:sp>
      <p:sp>
        <p:nvSpPr>
          <p:cNvPr id="823920967" name=""/>
          <p:cNvSpPr txBox="1"/>
          <p:nvPr/>
        </p:nvSpPr>
        <p:spPr bwMode="auto">
          <a:xfrm rot="0" flipH="0" flipV="0">
            <a:off x="368785" y="5131835"/>
            <a:ext cx="8173647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solidFill>
                  <a:schemeClr val="bg1"/>
                </a:solidFill>
              </a:rPr>
              <a:t>Выполнил: Пархоменко Марк Сергеевич, студент 022 группы, ФИТ, каф. УИ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Руководитель практики: Зав. кафедрой УИ, к.ф-м.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н., доцент, Г.Н. Нариманова	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e-mail: pakhom1358@yandex.ru	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473614" name="Прямоугольник 14"/>
          <p:cNvSpPr/>
          <p:nvPr/>
        </p:nvSpPr>
        <p:spPr bwMode="auto">
          <a:xfrm>
            <a:off x="10476818" y="6357234"/>
            <a:ext cx="1715181" cy="500766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1518298390" name="Рисунок 39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0476818" y="476464"/>
            <a:ext cx="1195407" cy="338095"/>
          </a:xfrm>
          <a:prstGeom prst="rect">
            <a:avLst/>
          </a:prstGeom>
        </p:spPr>
      </p:pic>
      <p:sp>
        <p:nvSpPr>
          <p:cNvPr id="202810025" name="Заголовок 1"/>
          <p:cNvSpPr txBox="1"/>
          <p:nvPr/>
        </p:nvSpPr>
        <p:spPr bwMode="auto">
          <a:xfrm>
            <a:off x="448733" y="345453"/>
            <a:ext cx="10515600" cy="10926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Актуальность 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1584148749" name="Номер слайда 4"/>
          <p:cNvSpPr txBox="1"/>
          <p:nvPr/>
        </p:nvSpPr>
        <p:spPr bwMode="auto">
          <a:xfrm>
            <a:off x="9039225" y="64250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3BD0280-3925-48FA-8745-52DE0C7BF3BF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>2</a:t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408566075" name="Прямоугольник 21"/>
          <p:cNvSpPr/>
          <p:nvPr/>
        </p:nvSpPr>
        <p:spPr bwMode="auto">
          <a:xfrm flipH="0" flipV="0">
            <a:off x="497328" y="1520070"/>
            <a:ext cx="10921674" cy="4054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defRPr/>
            </a:pPr>
            <a:r>
              <a:rPr lang="ru-RU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	А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ктуальность темы исследования заключается в стремительном развитии беспилотных летательных аппаратов и необходимости повышения точности и надежности их навигации в условиях ограниченного пространства, где использование спутниковых систем (GPS/ГЛОНАСС) затруднено или невозможно. В таких условиях особую значимость приобретают локальные системы позиционирования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. </a:t>
            </a:r>
            <a:endParaRPr lang="en-US" sz="20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just"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	Технология сверхширокополосной </a:t>
            </a:r>
            <a:r>
              <a:rPr lang="ru-RU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передачи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(UWB) позволяет обеспечивать высокую точность определения координат (до сантиметрового </a:t>
            </a:r>
            <a:r>
              <a:rPr lang="ru-RU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значения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), устойчивость к помехам и низкое энергопотребление, что делает её перспективной для задач координации и управления коллективом дронов.</a:t>
            </a:r>
            <a:endParaRPr lang="en-US" sz="2000" b="0" i="0" u="none" strike="noStrike" cap="none" spc="0">
              <a:solidFill>
                <a:schemeClr val="tx1"/>
              </a:solidFill>
              <a:latin typeface="Calibri"/>
              <a:cs typeface="Calibri"/>
            </a:endParaRPr>
          </a:p>
          <a:p>
            <a:pPr algn="just"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	Кроме того, развитие систем коллективного взаимодействия беспилотников (роевых технологий) требует эффективных методов обмена данными и позиционирования в реальном времени. Применение UWB в таких системах позволяет повысить безопасность полета, избежать столкновений и обеспечить согласованное движение группы дронов.</a:t>
            </a:r>
            <a:endParaRPr sz="2200"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431005" name="Заголовок 4"/>
          <p:cNvSpPr>
            <a:spLocks noGrp="1"/>
          </p:cNvSpPr>
          <p:nvPr>
            <p:ph type="title"/>
          </p:nvPr>
        </p:nvSpPr>
        <p:spPr bwMode="auto">
          <a:xfrm flipH="0" flipV="0">
            <a:off x="1557434" y="3032711"/>
            <a:ext cx="9513942" cy="9908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spcAft>
                <a:spcPts val="599"/>
              </a:spcAft>
              <a:defRPr/>
            </a:pPr>
            <a:r>
              <a:rPr lang="ru-RU" sz="5300" b="1"/>
              <a:t>Индивидуальное задание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17865" name="Прямоугольник 14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787712488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1048290116" name="Заголовок 1"/>
          <p:cNvSpPr txBox="1"/>
          <p:nvPr/>
        </p:nvSpPr>
        <p:spPr bwMode="auto">
          <a:xfrm>
            <a:off x="448732" y="345452"/>
            <a:ext cx="10515600" cy="1092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Индивидуальное</a:t>
            </a: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 задание 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681966620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DB443B33-62CE-E7F3-A80E-2EBEA4C370FC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pic>
        <p:nvPicPr>
          <p:cNvPr id="149866618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38198" y="1332039"/>
            <a:ext cx="9572625" cy="45243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872194" name="Заголовок 4"/>
          <p:cNvSpPr>
            <a:spLocks noGrp="1"/>
          </p:cNvSpPr>
          <p:nvPr>
            <p:ph type="title"/>
          </p:nvPr>
        </p:nvSpPr>
        <p:spPr bwMode="auto">
          <a:xfrm flipH="0" flipV="0">
            <a:off x="1557433" y="3032710"/>
            <a:ext cx="10459065" cy="99085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spcAft>
                <a:spcPts val="599"/>
              </a:spcAft>
              <a:defRPr/>
            </a:pPr>
            <a:r>
              <a:rPr lang="ru-RU" sz="5300" b="1"/>
              <a:t>Разбор технологии </a:t>
            </a:r>
            <a:r>
              <a:rPr lang="en-US" sz="5300" b="1"/>
              <a:t>UWB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4597315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8" y="476464"/>
            <a:ext cx="1195407" cy="338095"/>
          </a:xfrm>
          <a:prstGeom prst="rect">
            <a:avLst/>
          </a:prstGeom>
        </p:spPr>
      </p:pic>
      <p:sp>
        <p:nvSpPr>
          <p:cNvPr id="1810554891" name="Заголовок 1"/>
          <p:cNvSpPr txBox="1"/>
          <p:nvPr/>
        </p:nvSpPr>
        <p:spPr bwMode="auto">
          <a:xfrm>
            <a:off x="448733" y="345452"/>
            <a:ext cx="10515600" cy="1369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Разбор технологии </a:t>
            </a: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UWB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373228631" name="Прямоугольник 21"/>
          <p:cNvSpPr/>
          <p:nvPr/>
        </p:nvSpPr>
        <p:spPr bwMode="auto">
          <a:xfrm flipH="0" flipV="0">
            <a:off x="448731" y="1714460"/>
            <a:ext cx="10906916" cy="1615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Ultra Wide Band (</a:t>
            </a:r>
            <a:r>
              <a:rPr lang="ru-RU" sz="20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Сверхширокая передача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)</a:t>
            </a:r>
            <a:r>
              <a:rPr lang="ru-RU" sz="20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 — это технология беспроводной коммуникации, разработанная для передачи радиосигнала на малом радиусе. Она включает в себя генерирование и передачу радиочастотной энергии, которая распространяется в широком диапазоне и способна сосуществовать с несколькими частотными диапазонами, выделенными для радиосвязи.</a:t>
            </a:r>
            <a:r>
              <a:rPr lang="ru-RU" sz="2000">
                <a:latin typeface="Verdana"/>
                <a:ea typeface="Verdana"/>
              </a:rPr>
              <a:t> </a:t>
            </a:r>
            <a:endParaRPr sz="2200"/>
          </a:p>
        </p:txBody>
      </p:sp>
      <p:sp>
        <p:nvSpPr>
          <p:cNvPr id="1372502219" name="Прямоугольник 9"/>
          <p:cNvSpPr/>
          <p:nvPr/>
        </p:nvSpPr>
        <p:spPr bwMode="auto">
          <a:xfrm>
            <a:off x="10476818" y="6357234"/>
            <a:ext cx="1715181" cy="500766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65071101" name="Номер слайда 4"/>
          <p:cNvSpPr txBox="1"/>
          <p:nvPr/>
        </p:nvSpPr>
        <p:spPr bwMode="auto">
          <a:xfrm>
            <a:off x="9039225" y="64250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3BD0280-3925-48FA-8745-52DE0C7BF3BF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>3</a:t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029728015" name=""/>
          <p:cNvSpPr txBox="1"/>
          <p:nvPr/>
        </p:nvSpPr>
        <p:spPr bwMode="auto">
          <a:xfrm rot="0" flipH="0" flipV="0">
            <a:off x="593877" y="3586453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767227351" name="Прямоугольник 21"/>
          <p:cNvSpPr/>
          <p:nvPr/>
        </p:nvSpPr>
        <p:spPr bwMode="auto">
          <a:xfrm flipH="0" flipV="0">
            <a:off x="448732" y="3555973"/>
            <a:ext cx="10916276" cy="274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200" b="0" i="0" u="none" strike="noStrike" cap="none" spc="0">
                <a:solidFill>
                  <a:schemeClr val="tx1">
                    <a:lumMod val="50000"/>
                    <a:lumOff val="50000"/>
                  </a:schemeClr>
                </a:solidFill>
                <a:latin typeface="Verdana"/>
                <a:ea typeface="Verdana"/>
                <a:cs typeface="Verdana"/>
              </a:rPr>
              <a:t>Источник: </a:t>
            </a:r>
            <a:r>
              <a:rPr lang="en-US" sz="1200" b="0" i="0" u="none" strike="noStrike" cap="none" spc="0">
                <a:solidFill>
                  <a:schemeClr val="tx1">
                    <a:lumMod val="50000"/>
                    <a:lumOff val="50000"/>
                  </a:schemeClr>
                </a:solidFill>
                <a:latin typeface="Verdana"/>
                <a:ea typeface="Verdana"/>
                <a:cs typeface="Verdana"/>
              </a:rPr>
              <a:t>РЕКОМЕНДАЦИЯ МСЭ-R SM.1755-0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10623465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851024693" name="Заголовок 1"/>
          <p:cNvSpPr txBox="1"/>
          <p:nvPr/>
        </p:nvSpPr>
        <p:spPr bwMode="auto">
          <a:xfrm>
            <a:off x="448732" y="345451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Разбор технологии </a:t>
            </a: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UWB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523123843" name="Прямоугольник 9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15258951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9F3F2A6F-1F38-18AA-DF4C-2B3ED56AF5D0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749677997" name=""/>
          <p:cNvSpPr txBox="1"/>
          <p:nvPr/>
        </p:nvSpPr>
        <p:spPr bwMode="auto">
          <a:xfrm rot="0" flipH="0" flipV="0">
            <a:off x="593877" y="3586453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pic>
        <p:nvPicPr>
          <p:cNvPr id="40183301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508277" y="1556035"/>
            <a:ext cx="9072045" cy="3745928"/>
          </a:xfrm>
          <a:prstGeom prst="rect">
            <a:avLst/>
          </a:prstGeom>
        </p:spPr>
      </p:pic>
      <p:sp>
        <p:nvSpPr>
          <p:cNvPr id="211285303" name="Прямоугольник 21"/>
          <p:cNvSpPr/>
          <p:nvPr/>
        </p:nvSpPr>
        <p:spPr bwMode="auto">
          <a:xfrm flipH="0" flipV="0">
            <a:off x="3467365" y="5388388"/>
            <a:ext cx="5153870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О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граничения мощности излучения FCC</a:t>
            </a:r>
            <a:endParaRPr sz="1600"/>
          </a:p>
        </p:txBody>
      </p:sp>
      <p:sp>
        <p:nvSpPr>
          <p:cNvPr id="1784722977" name="Прямоугольник 21"/>
          <p:cNvSpPr/>
          <p:nvPr/>
        </p:nvSpPr>
        <p:spPr bwMode="auto">
          <a:xfrm flipH="0" flipV="0">
            <a:off x="448731" y="5693546"/>
            <a:ext cx="11000591" cy="396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sz="1000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Источник: R. J. Fontana, “Recent system applications of short-pulse ultra-wideband</a:t>
            </a:r>
            <a:r>
              <a:rPr lang="en-US" sz="1000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000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(UWB) technology,” IEEE Transactions on microwave theory and tech-niques, vol. 52, no. 9, pp. 2087–2104, 2004.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9948112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2035591835" name="Заголовок 1"/>
          <p:cNvSpPr txBox="1"/>
          <p:nvPr/>
        </p:nvSpPr>
        <p:spPr bwMode="auto">
          <a:xfrm>
            <a:off x="448732" y="345451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Разбор технологии </a:t>
            </a: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UWB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1211053723" name="Прямоугольник 9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25048864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A09C90EE-5596-AAAD-DC8B-9C08D9217410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2103565079" name=""/>
          <p:cNvSpPr txBox="1"/>
          <p:nvPr/>
        </p:nvSpPr>
        <p:spPr bwMode="auto">
          <a:xfrm rot="0" flipH="0" flipV="0">
            <a:off x="593877" y="3586453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512516891" name="Прямоугольник 21"/>
          <p:cNvSpPr/>
          <p:nvPr/>
        </p:nvSpPr>
        <p:spPr bwMode="auto">
          <a:xfrm flipH="0" flipV="0">
            <a:off x="4495251" y="5388388"/>
            <a:ext cx="2074400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Маски спекторв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UWB</a:t>
            </a:r>
            <a:endParaRPr sz="1600"/>
          </a:p>
        </p:txBody>
      </p:sp>
      <p:sp>
        <p:nvSpPr>
          <p:cNvPr id="182833485" name="Прямоугольник 21"/>
          <p:cNvSpPr/>
          <p:nvPr/>
        </p:nvSpPr>
        <p:spPr bwMode="auto">
          <a:xfrm flipH="0" flipV="0">
            <a:off x="448732" y="5783035"/>
            <a:ext cx="11002032" cy="396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sz="1000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Источник: 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Q. Tian, I. Kevin, K. Wang, and Z. Salcic, “A low-cost INS and UWB</a:t>
            </a:r>
            <a:r>
              <a:rPr lang="en-US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fusion pedestrian tracking system,” IEEE Sensors Journal, vol. 19,</a:t>
            </a:r>
            <a:r>
              <a:rPr lang="en-US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no. 10, pp. 3733–3740,</a:t>
            </a:r>
            <a:r>
              <a:rPr lang="en-US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2019</a:t>
            </a:r>
            <a:endParaRPr lang="ru-RU" sz="1000" b="0" i="0" u="none" strike="noStrike" cap="none" spc="0">
              <a:solidFill>
                <a:schemeClr val="tx1">
                  <a:lumMod val="65000"/>
                  <a:lumOff val="35000"/>
                </a:schemeClr>
              </a:solidFill>
              <a:latin typeface="Segoe UI"/>
              <a:cs typeface="Segoe UI"/>
            </a:endParaRPr>
          </a:p>
        </p:txBody>
      </p:sp>
      <p:pic>
        <p:nvPicPr>
          <p:cNvPr id="19722783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2944974" y="1467627"/>
            <a:ext cx="5174955" cy="36777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1223186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1904667546" name="Заголовок 1"/>
          <p:cNvSpPr txBox="1"/>
          <p:nvPr/>
        </p:nvSpPr>
        <p:spPr bwMode="auto">
          <a:xfrm>
            <a:off x="448732" y="345451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Разбор технологии </a:t>
            </a: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UWB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278671034" name="Прямоугольник 9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79414037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3F5CF2B0-6FDA-006A-B3F9-68AA25AF9BE0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467181943" name=""/>
          <p:cNvSpPr txBox="1"/>
          <p:nvPr/>
        </p:nvSpPr>
        <p:spPr bwMode="auto">
          <a:xfrm rot="0" flipH="0" flipV="0">
            <a:off x="593877" y="3586453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979933113" name="Прямоугольник 21"/>
          <p:cNvSpPr/>
          <p:nvPr/>
        </p:nvSpPr>
        <p:spPr bwMode="auto">
          <a:xfrm flipH="0" flipV="0">
            <a:off x="3847091" y="5388388"/>
            <a:ext cx="4205315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Частотный спектр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UWB</a:t>
            </a: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 и других технологий</a:t>
            </a:r>
            <a:endParaRPr sz="1600"/>
          </a:p>
        </p:txBody>
      </p:sp>
      <p:sp>
        <p:nvSpPr>
          <p:cNvPr id="862870586" name="Прямоугольник 21"/>
          <p:cNvSpPr/>
          <p:nvPr/>
        </p:nvSpPr>
        <p:spPr bwMode="auto">
          <a:xfrm flipH="0" flipV="0">
            <a:off x="448732" y="5783035"/>
            <a:ext cx="11005272" cy="244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sz="1000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Источник: 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Zheng C., Ge Y., Guo A. Ultra-Wideband Technology: Characteristics, Applications and Challenges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 — 2023</a:t>
            </a:r>
            <a:endParaRPr lang="ru-RU" sz="1000" b="0" i="0" u="none" strike="noStrike" cap="none" spc="0">
              <a:solidFill>
                <a:schemeClr val="tx1">
                  <a:lumMod val="65000"/>
                  <a:lumOff val="35000"/>
                </a:schemeClr>
              </a:solidFill>
              <a:latin typeface="Segoe UI"/>
              <a:cs typeface="Segoe UI"/>
            </a:endParaRPr>
          </a:p>
        </p:txBody>
      </p:sp>
      <p:pic>
        <p:nvPicPr>
          <p:cNvPr id="184924083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464636" y="1293843"/>
            <a:ext cx="6114919" cy="40945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3448570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6" y="476462"/>
            <a:ext cx="1195407" cy="338094"/>
          </a:xfrm>
          <a:prstGeom prst="rect">
            <a:avLst/>
          </a:prstGeom>
        </p:spPr>
      </p:pic>
      <p:sp>
        <p:nvSpPr>
          <p:cNvPr id="1606038452" name="Заголовок 1"/>
          <p:cNvSpPr txBox="1"/>
          <p:nvPr/>
        </p:nvSpPr>
        <p:spPr bwMode="auto">
          <a:xfrm>
            <a:off x="448731" y="345450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Разбор технологии </a:t>
            </a: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UWB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1354396535" name="Прямоугольник 9"/>
          <p:cNvSpPr/>
          <p:nvPr/>
        </p:nvSpPr>
        <p:spPr bwMode="auto">
          <a:xfrm>
            <a:off x="10476816" y="6357232"/>
            <a:ext cx="1715179" cy="500764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71336529" name="Номер слайда 4"/>
          <p:cNvSpPr txBox="1"/>
          <p:nvPr/>
        </p:nvSpPr>
        <p:spPr bwMode="auto">
          <a:xfrm>
            <a:off x="9039223" y="6425052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D43CEA26-DD28-46AE-901F-7610EE9C9D6E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357806940" name=""/>
          <p:cNvSpPr txBox="1"/>
          <p:nvPr/>
        </p:nvSpPr>
        <p:spPr bwMode="auto">
          <a:xfrm rot="0" flipH="0" flipV="0">
            <a:off x="593876" y="3586452"/>
            <a:ext cx="914400" cy="36611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169692707" name="Прямоугольник 21"/>
          <p:cNvSpPr/>
          <p:nvPr/>
        </p:nvSpPr>
        <p:spPr bwMode="auto">
          <a:xfrm flipH="0" flipV="0">
            <a:off x="2148979" y="5388387"/>
            <a:ext cx="7329138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Сравнительная таблица беспроводныхкоммуникационных технологий </a:t>
            </a:r>
            <a:endParaRPr sz="1600"/>
          </a:p>
        </p:txBody>
      </p:sp>
      <p:sp>
        <p:nvSpPr>
          <p:cNvPr id="1320613754" name="Прямоугольник 21"/>
          <p:cNvSpPr/>
          <p:nvPr/>
        </p:nvSpPr>
        <p:spPr bwMode="auto">
          <a:xfrm flipH="0" flipV="0">
            <a:off x="448731" y="5783034"/>
            <a:ext cx="11005272" cy="2441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sz="1000" b="0" i="0" u="none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Источник: 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Zheng C., Ge Y., Guo A. Ultra-Wideband Technology: Characteristics, Applications and Challenges</a:t>
            </a:r>
            <a:r>
              <a:rPr lang="ru-RU" sz="10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ea typeface="Segoe UI"/>
                <a:cs typeface="Segoe UI"/>
              </a:rPr>
              <a:t> — 2023</a:t>
            </a:r>
            <a:endParaRPr lang="ru-RU" sz="1000" b="0" i="0" u="none" strike="noStrike" cap="none" spc="0">
              <a:solidFill>
                <a:schemeClr val="tx1">
                  <a:lumMod val="65000"/>
                  <a:lumOff val="35000"/>
                </a:schemeClr>
              </a:solidFill>
              <a:latin typeface="Segoe UI"/>
              <a:cs typeface="Segoe UI"/>
            </a:endParaRPr>
          </a:p>
        </p:txBody>
      </p:sp>
      <p:pic>
        <p:nvPicPr>
          <p:cNvPr id="197709340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237932" y="1530201"/>
            <a:ext cx="10216071" cy="37975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28268647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756277984" name="Заголовок 1"/>
          <p:cNvSpPr txBox="1"/>
          <p:nvPr/>
        </p:nvSpPr>
        <p:spPr bwMode="auto">
          <a:xfrm>
            <a:off x="448732" y="345451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Разбор технологии </a:t>
            </a: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UWB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967586361" name="Прямоугольник 9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76317498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27C8913-0E07-0960-8770-845FE1043D7D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772582202" name=""/>
          <p:cNvSpPr txBox="1"/>
          <p:nvPr/>
        </p:nvSpPr>
        <p:spPr bwMode="auto">
          <a:xfrm rot="0" flipH="0" flipV="0">
            <a:off x="593877" y="3586453"/>
            <a:ext cx="914400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918912197" name="Прямоугольник 21"/>
          <p:cNvSpPr/>
          <p:nvPr/>
        </p:nvSpPr>
        <p:spPr bwMode="auto">
          <a:xfrm flipH="0" flipV="0">
            <a:off x="7695969" y="4830524"/>
            <a:ext cx="4233035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Фазовая модуляция сигнала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UWB</a:t>
            </a:r>
            <a:endParaRPr sz="1600"/>
          </a:p>
        </p:txBody>
      </p:sp>
      <p:pic>
        <p:nvPicPr>
          <p:cNvPr id="53591576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6664097" y="2121525"/>
            <a:ext cx="5527900" cy="2614950"/>
          </a:xfrm>
          <a:prstGeom prst="rect">
            <a:avLst/>
          </a:prstGeom>
        </p:spPr>
      </p:pic>
      <p:pic>
        <p:nvPicPr>
          <p:cNvPr id="15411563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490664" y="2225739"/>
            <a:ext cx="5460705" cy="2144660"/>
          </a:xfrm>
          <a:prstGeom prst="rect">
            <a:avLst/>
          </a:prstGeom>
        </p:spPr>
      </p:pic>
      <p:sp>
        <p:nvSpPr>
          <p:cNvPr id="1189354860" name="Прямоугольник 21"/>
          <p:cNvSpPr/>
          <p:nvPr/>
        </p:nvSpPr>
        <p:spPr bwMode="auto">
          <a:xfrm flipH="0" flipV="0">
            <a:off x="848851" y="4705364"/>
            <a:ext cx="4224395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Verdana"/>
                <a:ea typeface="Verdana"/>
                <a:cs typeface="Verdana"/>
              </a:rPr>
              <a:t>Амплитудная модуляция сигнала</a:t>
            </a: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758343" name="Заголовок 4"/>
          <p:cNvSpPr>
            <a:spLocks noGrp="1"/>
          </p:cNvSpPr>
          <p:nvPr>
            <p:ph type="title"/>
          </p:nvPr>
        </p:nvSpPr>
        <p:spPr bwMode="auto">
          <a:xfrm flipH="0" flipV="0">
            <a:off x="1557432" y="3032710"/>
            <a:ext cx="9513941" cy="99085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spcAft>
                <a:spcPts val="598"/>
              </a:spcAft>
              <a:defRPr/>
            </a:pPr>
            <a:r>
              <a:rPr lang="ru-RU" sz="5300" b="1"/>
              <a:t>Методы позиционирования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652513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8" y="476464"/>
            <a:ext cx="1195407" cy="338095"/>
          </a:xfrm>
          <a:prstGeom prst="rect">
            <a:avLst/>
          </a:prstGeom>
        </p:spPr>
      </p:pic>
      <p:sp>
        <p:nvSpPr>
          <p:cNvPr id="1085046790" name="Заголовок 1"/>
          <p:cNvSpPr txBox="1"/>
          <p:nvPr/>
        </p:nvSpPr>
        <p:spPr bwMode="auto">
          <a:xfrm>
            <a:off x="448733" y="345452"/>
            <a:ext cx="10515600" cy="1369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Two-Way Ranging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480451412" name="Прямоугольник 21"/>
          <p:cNvSpPr/>
          <p:nvPr/>
        </p:nvSpPr>
        <p:spPr bwMode="auto">
          <a:xfrm>
            <a:off x="915262" y="5206661"/>
            <a:ext cx="7213140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/>
              <a:t>Время распространения сигнала метка-анкер</a:t>
            </a:r>
            <a:endParaRPr/>
          </a:p>
        </p:txBody>
      </p:sp>
      <p:sp>
        <p:nvSpPr>
          <p:cNvPr id="351603355" name="Прямоугольник 10"/>
          <p:cNvSpPr/>
          <p:nvPr/>
        </p:nvSpPr>
        <p:spPr bwMode="auto">
          <a:xfrm>
            <a:off x="10476818" y="6357234"/>
            <a:ext cx="1715181" cy="500766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25408425" name="Номер слайда 4"/>
          <p:cNvSpPr txBox="1"/>
          <p:nvPr/>
        </p:nvSpPr>
        <p:spPr bwMode="auto">
          <a:xfrm>
            <a:off x="9039225" y="64250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3BD0280-3925-48FA-8745-52DE0C7BF3BF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>4</a:t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pic>
        <p:nvPicPr>
          <p:cNvPr id="17830139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448732" y="1409311"/>
            <a:ext cx="4799411" cy="3644770"/>
          </a:xfrm>
          <a:prstGeom prst="rect">
            <a:avLst/>
          </a:prstGeom>
        </p:spPr>
      </p:pic>
      <p:pic>
        <p:nvPicPr>
          <p:cNvPr id="40544305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78274" y="3908251"/>
            <a:ext cx="4519537" cy="865605"/>
          </a:xfrm>
          <a:prstGeom prst="rect">
            <a:avLst/>
          </a:prstGeom>
        </p:spPr>
      </p:pic>
      <p:sp>
        <p:nvSpPr>
          <p:cNvPr id="714589711" name=""/>
          <p:cNvSpPr txBox="1"/>
          <p:nvPr/>
        </p:nvSpPr>
        <p:spPr bwMode="auto">
          <a:xfrm rot="0" flipH="0" flipV="0">
            <a:off x="5719400" y="1714460"/>
            <a:ext cx="6063024" cy="1051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400"/>
              <a:t>Двустороннее определение расстояния (</a:t>
            </a:r>
            <a:r>
              <a:rPr lang="en-US" sz="1400"/>
              <a:t>TWR</a:t>
            </a:r>
            <a:r>
              <a:rPr lang="ru-RU" sz="1400"/>
              <a:t>) базируется на времени полета сверх широкополосной волны между отправителем и получателем, умноженное на скорость распространения радиоволн, то есть скорость света</a:t>
            </a:r>
            <a:endParaRPr lang="ru-RU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6196620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1334183158" name="Заголовок 1"/>
          <p:cNvSpPr txBox="1"/>
          <p:nvPr/>
        </p:nvSpPr>
        <p:spPr bwMode="auto">
          <a:xfrm>
            <a:off x="448732" y="345451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Time Difference of Arrival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1551400663" name="Прямоугольник 21"/>
          <p:cNvSpPr/>
          <p:nvPr/>
        </p:nvSpPr>
        <p:spPr bwMode="auto">
          <a:xfrm flipH="0" flipV="0">
            <a:off x="788910" y="5054081"/>
            <a:ext cx="3955865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/>
              <a:t>Схема организации сигнала через алгоритм </a:t>
            </a:r>
            <a:r>
              <a:rPr lang="en-US" sz="1400"/>
              <a:t>TDoA</a:t>
            </a:r>
            <a:endParaRPr/>
          </a:p>
        </p:txBody>
      </p:sp>
      <p:sp>
        <p:nvSpPr>
          <p:cNvPr id="13909478" name="Прямоугольник 10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04902219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67F7D8BD-0A29-7AEC-1015-2DB2558CFE22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831244299" name=""/>
          <p:cNvSpPr txBox="1"/>
          <p:nvPr/>
        </p:nvSpPr>
        <p:spPr bwMode="auto">
          <a:xfrm rot="0" flipH="0" flipV="0">
            <a:off x="5706532" y="2425365"/>
            <a:ext cx="6172104" cy="25606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/>
              <a:t>TD</a:t>
            </a:r>
            <a:r>
              <a:rPr lang="en-US"/>
              <a:t>oA </a:t>
            </a:r>
            <a:r>
              <a:rPr lang="ru-RU"/>
              <a:t>рассчитывает разницу расстояний двух анкеров до метки. Это не способ вычислить координату, а лишь узнать к кому метка ближе.</a:t>
            </a:r>
            <a:endParaRPr lang="ru-RU"/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/>
              <a:t>Не требует ответа от маяка -</a:t>
            </a:r>
            <a:r>
              <a:rPr lang="en-US"/>
              <a:t>&gt; </a:t>
            </a:r>
            <a:r>
              <a:rPr lang="ru-RU"/>
              <a:t>меньше нагрузки на систему и исключение коллизий в эфире</a:t>
            </a:r>
            <a:endParaRPr lang="ru-RU"/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/>
              <a:t>Требует синхронизацию по времени между анкерами</a:t>
            </a:r>
            <a:endParaRPr lang="ru-RU" sz="1400"/>
          </a:p>
        </p:txBody>
      </p:sp>
      <p:pic>
        <p:nvPicPr>
          <p:cNvPr id="134589973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719233" y="1714460"/>
            <a:ext cx="4423316" cy="31626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5299640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826628616" name="Заголовок 1"/>
          <p:cNvSpPr txBox="1"/>
          <p:nvPr/>
        </p:nvSpPr>
        <p:spPr bwMode="auto">
          <a:xfrm>
            <a:off x="448732" y="345451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2800" b="1">
                <a:solidFill>
                  <a:srgbClr val="3C388D"/>
                </a:solidFill>
                <a:latin typeface="Verdana"/>
                <a:ea typeface="Verdana"/>
              </a:rPr>
              <a:t>Phase Difference of Arrival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1181075423" name="Прямоугольник 21"/>
          <p:cNvSpPr/>
          <p:nvPr/>
        </p:nvSpPr>
        <p:spPr bwMode="auto">
          <a:xfrm flipH="0" flipV="0">
            <a:off x="2126210" y="5054081"/>
            <a:ext cx="1623211" cy="30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1400"/>
              <a:t>Алгоритм </a:t>
            </a:r>
            <a:r>
              <a:rPr lang="en-US" sz="1400"/>
              <a:t>PDoA</a:t>
            </a:r>
            <a:endParaRPr/>
          </a:p>
        </p:txBody>
      </p:sp>
      <p:sp>
        <p:nvSpPr>
          <p:cNvPr id="357214223" name="Прямоугольник 10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70839360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3A9C5B0-5E1C-4F19-ED8D-8D390ABDC741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873327163" name=""/>
          <p:cNvSpPr txBox="1"/>
          <p:nvPr/>
        </p:nvSpPr>
        <p:spPr bwMode="auto">
          <a:xfrm rot="0" flipH="0" flipV="0">
            <a:off x="5706532" y="2425365"/>
            <a:ext cx="6300624" cy="2149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/>
              <a:t>Метод </a:t>
            </a:r>
            <a:r>
              <a:rPr lang="en-US"/>
              <a:t>PDoA </a:t>
            </a:r>
            <a:r>
              <a:rPr lang="ru-RU"/>
              <a:t>используется для оценки угла прибытия сигнала на приемник.</a:t>
            </a:r>
            <a:endParaRPr lang="ru-RU"/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/>
              <a:t>Не требуется синхронизация, так как сигнал </a:t>
            </a:r>
            <a:r>
              <a:rPr lang="en-US"/>
              <a:t>“</a:t>
            </a:r>
            <a:r>
              <a:rPr lang="ru-RU"/>
              <a:t>ловится</a:t>
            </a:r>
            <a:r>
              <a:rPr lang="en-US"/>
              <a:t>”</a:t>
            </a:r>
            <a:r>
              <a:rPr lang="ru-RU"/>
              <a:t> одним якорем.</a:t>
            </a:r>
            <a:br>
              <a:rPr lang="ru-RU"/>
            </a:br>
            <a:r>
              <a:rPr lang="ru-RU"/>
              <a:t>Позволяет определить направление метки</a:t>
            </a:r>
            <a:endParaRPr lang="ru-RU" sz="1400"/>
          </a:p>
        </p:txBody>
      </p:sp>
      <p:pic>
        <p:nvPicPr>
          <p:cNvPr id="12863966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380055" y="1714460"/>
            <a:ext cx="3115521" cy="30178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209488" name="Заголовок 4"/>
          <p:cNvSpPr>
            <a:spLocks noGrp="1"/>
          </p:cNvSpPr>
          <p:nvPr>
            <p:ph type="title"/>
          </p:nvPr>
        </p:nvSpPr>
        <p:spPr bwMode="auto">
          <a:xfrm flipH="0" flipV="0">
            <a:off x="2403020" y="3032710"/>
            <a:ext cx="7521468" cy="99085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spcAft>
                <a:spcPts val="599"/>
              </a:spcAft>
              <a:defRPr/>
            </a:pPr>
            <a:r>
              <a:rPr lang="ru-RU" sz="5300" b="1"/>
              <a:t>Организация полета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1835656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6" y="476462"/>
            <a:ext cx="1195407" cy="338094"/>
          </a:xfrm>
          <a:prstGeom prst="rect">
            <a:avLst/>
          </a:prstGeom>
        </p:spPr>
      </p:pic>
      <p:sp>
        <p:nvSpPr>
          <p:cNvPr id="23553437" name="Заголовок 1"/>
          <p:cNvSpPr txBox="1"/>
          <p:nvPr/>
        </p:nvSpPr>
        <p:spPr bwMode="auto">
          <a:xfrm>
            <a:off x="448731" y="345450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Конфигурация системы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924269185" name="Прямоугольник 10"/>
          <p:cNvSpPr/>
          <p:nvPr/>
        </p:nvSpPr>
        <p:spPr bwMode="auto">
          <a:xfrm>
            <a:off x="10476816" y="6357232"/>
            <a:ext cx="1715179" cy="500764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1631331" name="Номер слайда 4"/>
          <p:cNvSpPr txBox="1"/>
          <p:nvPr/>
        </p:nvSpPr>
        <p:spPr bwMode="auto">
          <a:xfrm>
            <a:off x="9039223" y="6425052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7664A259-7904-6258-9AF8-5EC27C0FECE6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654926676" name=""/>
          <p:cNvSpPr txBox="1"/>
          <p:nvPr/>
        </p:nvSpPr>
        <p:spPr bwMode="auto">
          <a:xfrm rot="0" flipH="0" flipV="0">
            <a:off x="555256" y="1714458"/>
            <a:ext cx="11337599" cy="1371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400"/>
              <a:t>— Задействовано 25 дронов и 8 маяков</a:t>
            </a:r>
            <a:endParaRPr lang="ru-RU" sz="1400"/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400"/>
              <a:t>— </a:t>
            </a:r>
            <a:r>
              <a:rPr lang="en-US" sz="1400"/>
              <a:t>TDoA</a:t>
            </a:r>
            <a:r>
              <a:rPr lang="ru-RU" sz="1400"/>
              <a:t> рассчитывается последовательностью пар маяков, которые меняются каждые 2.1 мс</a:t>
            </a:r>
            <a:endParaRPr lang="ru-RU" sz="1400"/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400"/>
              <a:t>— </a:t>
            </a:r>
            <a:r>
              <a:rPr lang="en-US" sz="1400"/>
              <a:t>PDoA </a:t>
            </a:r>
            <a:r>
              <a:rPr lang="ru-RU" sz="1400"/>
              <a:t>считается каждым дроном отдельно и служит для определения его направления. Корректируется модулем </a:t>
            </a:r>
            <a:r>
              <a:rPr lang="en-US" sz="1400"/>
              <a:t>IMU</a:t>
            </a:r>
            <a:endParaRPr lang="en-US" sz="1400"/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/>
              <a:t>— </a:t>
            </a:r>
            <a:r>
              <a:rPr lang="ru-RU" sz="1400"/>
              <a:t>Координата </a:t>
            </a:r>
            <a:r>
              <a:rPr lang="en-US" sz="1400"/>
              <a:t>Z </a:t>
            </a:r>
            <a:r>
              <a:rPr lang="ru-RU" sz="1400"/>
              <a:t>рассчитывается </a:t>
            </a:r>
            <a:r>
              <a:rPr lang="ru-RU" sz="1400"/>
              <a:t>по </a:t>
            </a:r>
            <a:r>
              <a:rPr lang="en-US" sz="1400"/>
              <a:t>UWB</a:t>
            </a:r>
            <a:r>
              <a:rPr lang="ru-RU" sz="1400"/>
              <a:t> и корректируется </a:t>
            </a:r>
            <a:r>
              <a:rPr lang="en-US" sz="1400"/>
              <a:t>ToF-</a:t>
            </a:r>
            <a:r>
              <a:rPr lang="ru-RU" sz="1400"/>
              <a:t>сенсором</a:t>
            </a:r>
            <a:endParaRPr lang="ru-RU" sz="1400"/>
          </a:p>
        </p:txBody>
      </p:sp>
      <p:pic>
        <p:nvPicPr>
          <p:cNvPr id="130312976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622570" y="3369031"/>
            <a:ext cx="8788253" cy="2326302"/>
          </a:xfrm>
          <a:prstGeom prst="rect">
            <a:avLst/>
          </a:prstGeom>
        </p:spPr>
      </p:pic>
      <p:sp>
        <p:nvSpPr>
          <p:cNvPr id="1326518736" name=""/>
          <p:cNvSpPr txBox="1"/>
          <p:nvPr/>
        </p:nvSpPr>
        <p:spPr bwMode="auto">
          <a:xfrm rot="0" flipH="0" flipV="0">
            <a:off x="706098" y="5695333"/>
            <a:ext cx="11351639" cy="4118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400"/>
              <a:t>Кадр </a:t>
            </a:r>
            <a:r>
              <a:rPr lang="en-US" sz="1400"/>
              <a:t>TDMA</a:t>
            </a:r>
            <a:r>
              <a:rPr lang="ru-RU" sz="1400"/>
              <a:t> (</a:t>
            </a:r>
            <a:r>
              <a:rPr lang="ru-RU" sz="14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Time Division Multiple Access</a:t>
            </a:r>
            <a:r>
              <a:rPr lang="ru-RU" sz="1400"/>
              <a:t>)</a:t>
            </a:r>
            <a:r>
              <a:rPr lang="en-US" sz="1400"/>
              <a:t> </a:t>
            </a:r>
            <a:r>
              <a:rPr lang="ru-RU" sz="1400"/>
              <a:t>для маяков. Каждый маяк знает время своего слота, в котором шлет пакет модулю со своим временем.</a:t>
            </a:r>
            <a:endParaRPr lang="ru-RU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448530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6" y="476462"/>
            <a:ext cx="1195407" cy="338094"/>
          </a:xfrm>
          <a:prstGeom prst="rect">
            <a:avLst/>
          </a:prstGeom>
        </p:spPr>
      </p:pic>
      <p:sp>
        <p:nvSpPr>
          <p:cNvPr id="323347346" name="Заголовок 1"/>
          <p:cNvSpPr txBox="1"/>
          <p:nvPr/>
        </p:nvSpPr>
        <p:spPr bwMode="auto">
          <a:xfrm>
            <a:off x="448731" y="345450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Координатное пространство помещения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239927936" name="Прямоугольник 10"/>
          <p:cNvSpPr/>
          <p:nvPr/>
        </p:nvSpPr>
        <p:spPr bwMode="auto">
          <a:xfrm>
            <a:off x="10476816" y="6357232"/>
            <a:ext cx="1715179" cy="500764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8823124" name="Номер слайда 4"/>
          <p:cNvSpPr txBox="1"/>
          <p:nvPr/>
        </p:nvSpPr>
        <p:spPr bwMode="auto">
          <a:xfrm>
            <a:off x="9039223" y="6425052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744315EF-44B4-B3A0-E131-12BC63F8208A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pic>
        <p:nvPicPr>
          <p:cNvPr id="60094115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279682" y="1302981"/>
            <a:ext cx="7110240" cy="50293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42234226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6" y="476462"/>
            <a:ext cx="1195407" cy="338094"/>
          </a:xfrm>
          <a:prstGeom prst="rect">
            <a:avLst/>
          </a:prstGeom>
        </p:spPr>
      </p:pic>
      <p:sp>
        <p:nvSpPr>
          <p:cNvPr id="384776982" name="Заголовок 1"/>
          <p:cNvSpPr txBox="1"/>
          <p:nvPr/>
        </p:nvSpPr>
        <p:spPr bwMode="auto">
          <a:xfrm>
            <a:off x="448731" y="345450"/>
            <a:ext cx="10515600" cy="1369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Расстановка пар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185216038" name="Прямоугольник 10"/>
          <p:cNvSpPr/>
          <p:nvPr/>
        </p:nvSpPr>
        <p:spPr bwMode="auto">
          <a:xfrm>
            <a:off x="10476816" y="6357232"/>
            <a:ext cx="1715179" cy="500764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86636088" name="Номер слайда 4"/>
          <p:cNvSpPr txBox="1"/>
          <p:nvPr/>
        </p:nvSpPr>
        <p:spPr bwMode="auto">
          <a:xfrm>
            <a:off x="9039223" y="6425052"/>
            <a:ext cx="2743200" cy="3651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268F5F0D-8547-82F1-8774-F7C23E652915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pic>
        <p:nvPicPr>
          <p:cNvPr id="2648683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552868" y="1241881"/>
            <a:ext cx="6307326" cy="50135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100394" name="Заголовок 4"/>
          <p:cNvSpPr>
            <a:spLocks noGrp="1"/>
          </p:cNvSpPr>
          <p:nvPr>
            <p:ph type="title"/>
          </p:nvPr>
        </p:nvSpPr>
        <p:spPr bwMode="auto">
          <a:xfrm flipH="0" flipV="0">
            <a:off x="3637382" y="3032709"/>
            <a:ext cx="5606750" cy="99085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spcAft>
                <a:spcPts val="598"/>
              </a:spcAft>
              <a:defRPr/>
            </a:pPr>
            <a:r>
              <a:rPr lang="ru-RU" sz="5300" b="1"/>
              <a:t>Заключение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696319" name="Прямоугольник 14"/>
          <p:cNvSpPr/>
          <p:nvPr/>
        </p:nvSpPr>
        <p:spPr bwMode="auto">
          <a:xfrm>
            <a:off x="10476817" y="6357233"/>
            <a:ext cx="1715180" cy="500765"/>
          </a:xfrm>
          <a:prstGeom prst="rect">
            <a:avLst/>
          </a:prstGeom>
          <a:solidFill>
            <a:srgbClr val="3C38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2094101212" name="Рисунок 3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476817" y="476463"/>
            <a:ext cx="1195407" cy="338094"/>
          </a:xfrm>
          <a:prstGeom prst="rect">
            <a:avLst/>
          </a:prstGeom>
        </p:spPr>
      </p:pic>
      <p:sp>
        <p:nvSpPr>
          <p:cNvPr id="1483891502" name="Заголовок 1"/>
          <p:cNvSpPr txBox="1"/>
          <p:nvPr/>
        </p:nvSpPr>
        <p:spPr bwMode="auto">
          <a:xfrm>
            <a:off x="448732" y="345452"/>
            <a:ext cx="10515600" cy="1092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>
                <a:solidFill>
                  <a:srgbClr val="3C388D"/>
                </a:solidFill>
                <a:latin typeface="Verdana"/>
                <a:ea typeface="Verdana"/>
              </a:rPr>
              <a:t>Вывод </a:t>
            </a:r>
            <a:endParaRPr/>
          </a:p>
          <a:p>
            <a:pPr>
              <a:defRPr/>
            </a:pPr>
            <a:endParaRPr lang="ru-RU" sz="2800">
              <a:solidFill>
                <a:srgbClr val="3C388D"/>
              </a:solidFill>
              <a:latin typeface="Nekst Bold"/>
            </a:endParaRPr>
          </a:p>
        </p:txBody>
      </p:sp>
      <p:sp>
        <p:nvSpPr>
          <p:cNvPr id="361072081" name="Номер слайда 4"/>
          <p:cNvSpPr txBox="1"/>
          <p:nvPr/>
        </p:nvSpPr>
        <p:spPr bwMode="auto">
          <a:xfrm>
            <a:off x="9039224" y="6425053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2C4CD1C-A36A-2C5B-B721-36FE40C45AA6}" type="slidenum">
              <a:rPr lang="ru-RU">
                <a:solidFill>
                  <a:schemeClr val="bg1"/>
                </a:solidFill>
                <a:latin typeface="Verdana"/>
                <a:ea typeface="Verdana"/>
              </a:rPr>
              <a:t/>
            </a:fld>
            <a:endParaRPr lang="ru-RU">
              <a:solidFill>
                <a:schemeClr val="bg1"/>
              </a:solidFill>
              <a:latin typeface="Verdana"/>
              <a:ea typeface="Verdana"/>
            </a:endParaRPr>
          </a:p>
        </p:txBody>
      </p:sp>
      <p:sp>
        <p:nvSpPr>
          <p:cNvPr id="193077407" name="Прямоугольник 21"/>
          <p:cNvSpPr/>
          <p:nvPr/>
        </p:nvSpPr>
        <p:spPr bwMode="auto">
          <a:xfrm flipH="0" flipV="0">
            <a:off x="497328" y="1520070"/>
            <a:ext cx="10925993" cy="2835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defRPr/>
            </a:pPr>
            <a:r>
              <a:rPr lang="ru-RU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	</a:t>
            </a:r>
            <a:r>
              <a:rPr lang="ru-RU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В ходе выполнения работы была изучена технология сверхширокополосной связи (UWB), а также рассмотрены основные методы локального позиционирования, применяемые для определения координат объектов в пространстве. Особое внимание было уделено анализу алгоритмов позиционирования, таких как TWR, TDOA и PDoA, их преимуществам, ограничениям и применимости в задачах управления беспилотными летательными аппаратами.</a:t>
            </a:r>
            <a:endParaRPr sz="2200">
              <a:latin typeface="Calibri"/>
              <a:cs typeface="Calibri"/>
            </a:endParaRPr>
          </a:p>
          <a:p>
            <a:pPr algn="just">
              <a:defRPr/>
            </a:pPr>
            <a:r>
              <a:rPr lang="en-US" sz="2200">
                <a:latin typeface="Calibri"/>
                <a:cs typeface="Calibri"/>
              </a:rPr>
              <a:t>	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Также были выявлены особенности применения различных алгоритмов в условиях коллективного взаимодействия дронов, включая проблемы коллизий сигналов и необходимость синхронизации устройств. Рассмотренные методы позволяют эффективно решать задачи координации движения группы беспилотников и обеспечивать безопасное выполнение полетов</a:t>
            </a:r>
            <a:endParaRPr lang="en-US" sz="20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3C388D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5994204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707039" y="679681"/>
            <a:ext cx="2338312" cy="661341"/>
          </a:xfrm>
          <a:prstGeom prst="rect">
            <a:avLst/>
          </a:prstGeom>
        </p:spPr>
      </p:pic>
      <p:sp>
        <p:nvSpPr>
          <p:cNvPr id="785789761" name="object 21"/>
          <p:cNvSpPr txBox="1"/>
          <p:nvPr/>
        </p:nvSpPr>
        <p:spPr bwMode="auto">
          <a:xfrm>
            <a:off x="707038" y="2805752"/>
            <a:ext cx="6870555" cy="1246495"/>
          </a:xfrm>
          <a:prstGeom prst="rect">
            <a:avLst/>
          </a:prstGeom>
        </p:spPr>
        <p:txBody>
          <a:bodyPr vert="horz" wrap="square" lIns="0" tIns="15240" rIns="0" bIns="0" rtlCol="0" anchor="ctr">
            <a:sp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20"/>
              </a:spcBef>
              <a:defRPr/>
            </a:pPr>
            <a:r>
              <a:rPr lang="ru-RU" sz="4000">
                <a:solidFill>
                  <a:srgbClr val="FFFFFF"/>
                </a:solidFill>
                <a:latin typeface="Nekst Bold"/>
              </a:rPr>
              <a:t>СПАСИБО </a:t>
            </a:r>
            <a:br>
              <a:rPr lang="ru-RU" sz="4000">
                <a:solidFill>
                  <a:srgbClr val="FFFFFF"/>
                </a:solidFill>
                <a:latin typeface="Nekst Bold"/>
              </a:rPr>
            </a:br>
            <a:r>
              <a:rPr lang="ru-RU" sz="4000">
                <a:solidFill>
                  <a:srgbClr val="FFFFFF"/>
                </a:solidFill>
                <a:latin typeface="Nekst Bold"/>
              </a:rPr>
              <a:t>ЗА ВНИМАНИЕ!</a:t>
            </a:r>
            <a:endParaRPr lang="ru-RU" sz="4000">
              <a:latin typeface="Nekst Bold"/>
            </a:endParaRPr>
          </a:p>
        </p:txBody>
      </p:sp>
      <p:sp>
        <p:nvSpPr>
          <p:cNvPr id="704088547" name="Прямоугольник 7"/>
          <p:cNvSpPr/>
          <p:nvPr/>
        </p:nvSpPr>
        <p:spPr bwMode="auto">
          <a:xfrm flipH="0" flipV="0">
            <a:off x="622851" y="5225231"/>
            <a:ext cx="9517302" cy="358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53720">
              <a:lnSpc>
                <a:spcPct val="109400"/>
              </a:lnSpc>
              <a:spcBef>
                <a:spcPts val="525"/>
              </a:spcBef>
              <a:defRPr/>
            </a:pPr>
            <a:r>
              <a:rPr lang="en-US" sz="16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e-mail: </a:t>
            </a:r>
            <a:r>
              <a:rPr lang="en-US" sz="160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parkhom1358@yandex.ru</a:t>
            </a:r>
            <a:endParaRPr/>
          </a:p>
        </p:txBody>
      </p:sp>
      <p:sp>
        <p:nvSpPr>
          <p:cNvPr id="1816700988" name="Прямоугольник 8"/>
          <p:cNvSpPr/>
          <p:nvPr/>
        </p:nvSpPr>
        <p:spPr bwMode="auto">
          <a:xfrm flipH="0" flipV="0">
            <a:off x="622851" y="4970723"/>
            <a:ext cx="9516582" cy="358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53720">
              <a:lnSpc>
                <a:spcPct val="109400"/>
              </a:lnSpc>
              <a:spcBef>
                <a:spcPts val="525"/>
              </a:spcBef>
              <a:defRPr/>
            </a:pPr>
            <a:r>
              <a:rPr lang="ru-RU" sz="160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Студент 022 гр., Пархоменко Марк Сергеевич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22</Slides>
  <Notes>22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Департамент образования: итоги 2021</dc:title>
  <dc:creator>User</dc:creator>
  <cp:lastModifiedBy/>
  <cp:revision>55</cp:revision>
  <dcterms:created xsi:type="dcterms:W3CDTF">2022-06-29T03:22:44Z</dcterms:created>
  <dcterms:modified xsi:type="dcterms:W3CDTF">2026-05-13T07:32:38Z</dcterms:modified>
</cp:coreProperties>
</file>